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289" r:id="rId6"/>
    <p:sldId id="340" r:id="rId7"/>
    <p:sldId id="329" r:id="rId8"/>
    <p:sldId id="336" r:id="rId9"/>
    <p:sldId id="34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29" y="605"/>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06/12/2025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a:t>
            </a:r>
            <a:r>
              <a:rPr lang="en-GB"/>
              <a:t>make the most of this opportunity to help you pass coursework 2. </a:t>
            </a:r>
            <a:endParaRPr lang="en-GB" dirty="0"/>
          </a:p>
          <a:p>
            <a:endParaRPr lang="en-GB"/>
          </a:p>
          <a:p>
            <a:r>
              <a:rPr lang="en-GB" dirty="0">
                <a:solidFill>
                  <a:srgbClr val="FF0000"/>
                </a:solidFill>
              </a:rPr>
              <a:t>Research Questions are dependent on the variables and datatypes you have in your assigned dataset. Before you define your Research Question, your dataset dsXXXX must match your assigned Dataset, I.e., did you </a:t>
            </a:r>
            <a:r>
              <a:rPr lang="en-GB">
                <a:solidFill>
                  <a:srgbClr val="FF0000"/>
                </a:solidFill>
              </a:rPr>
              <a:t>receive confirmation email about your allocation?</a:t>
            </a:r>
            <a:r>
              <a:rPr lang="en-GB" dirty="0">
                <a:solidFill>
                  <a:srgbClr val="FF0000"/>
                </a:solidFill>
              </a:rPr>
              <a:t> Your group number must be assigned to the dataset you are referencing here.</a:t>
            </a:r>
            <a:endParaRPr lang="en-GB" dirty="0">
              <a:solidFill>
                <a:srgbClr val="FF0000"/>
              </a:solidFill>
              <a:cs typeface="Arial"/>
            </a:endParaRPr>
          </a:p>
          <a:p>
            <a:endParaRPr lang="en-GB">
              <a:solidFill>
                <a:srgbClr val="203232"/>
              </a:solidFill>
              <a:cs typeface="Arial" panose="020B0604020202020204"/>
            </a:endParaRPr>
          </a:p>
          <a:p>
            <a:r>
              <a:rPr lang="en-GB"/>
              <a:t>The next slides give you three alternatives for defining your research question and hypotheses. Select </a:t>
            </a:r>
            <a:r>
              <a:rPr lang="en-GB" dirty="0"/>
              <a:t>only </a:t>
            </a:r>
            <a:r>
              <a:rPr lang="en-GB" b="1" dirty="0"/>
              <a:t>one type </a:t>
            </a:r>
            <a:r>
              <a:rPr lang="en-GB" dirty="0"/>
              <a:t>of research question. </a:t>
            </a:r>
          </a:p>
          <a:p>
            <a:r>
              <a:rPr lang="en-GB" dirty="0"/>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a:t>
            </a:r>
            <a:r>
              <a:rPr lang="en-GB"/>
              <a:t>presenting will miss the opportunity to check a critical part of coursework 2.   Practice presenting on Teams </a:t>
            </a:r>
            <a:r>
              <a:rPr lang="en-GB" dirty="0"/>
              <a:t>first.</a:t>
            </a:r>
            <a:endParaRPr lang="en-GB">
              <a:cs typeface="Arial"/>
            </a:endParaRPr>
          </a:p>
          <a:p>
            <a:r>
              <a:rPr lang="en-GB" b="1" i="1"/>
              <a:t>We look forward to giving you feedback.  You will not be graded on this presentation but if you do not attend and you booked a space you are preventing someone else presenting and are going against our module values</a:t>
            </a:r>
            <a:r>
              <a:rPr lang="en-GB"/>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1035468" y="1868129"/>
            <a:ext cx="10385388" cy="401535"/>
          </a:xfrm>
        </p:spPr>
        <p:txBody>
          <a:bodyPr/>
          <a:lstStyle/>
          <a:p>
            <a:r>
              <a:rPr lang="en-US" sz="2000" dirty="0"/>
              <a:t>Group Name: GRPA198                                        Name of Student Presenting: Khadarunnisa Syed</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2089858"/>
            <a:ext cx="9965844" cy="2649857"/>
          </a:xfrm>
        </p:spPr>
        <p:txBody>
          <a:bodyPr>
            <a:normAutofit fontScale="90000"/>
          </a:bodyPr>
          <a:lstStyle/>
          <a:p>
            <a:pPr>
              <a:lnSpc>
                <a:spcPts val="2880"/>
              </a:lnSpc>
              <a:spcBef>
                <a:spcPts val="0"/>
              </a:spcBef>
              <a:spcAft>
                <a:spcPts val="992"/>
              </a:spcAft>
            </a:pPr>
            <a:r>
              <a:rPr lang="en-GB" sz="3600">
                <a:solidFill>
                  <a:srgbClr val="FF0000"/>
                </a:solidFill>
                <a:cs typeface="Arial"/>
              </a:rPr>
              <a:t>Include summary information of your dataset, to include </a:t>
            </a:r>
            <a:endParaRPr lang="en-US" sz="3600" b="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The columns/variable names you include in your research question  (two columns).</a:t>
            </a: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At least 5 rows of the data</a:t>
            </a:r>
            <a:endParaRPr lang="en-US" sz="3600" b="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Tell us how many rows your dataset has.</a:t>
            </a:r>
            <a:br>
              <a:rPr lang="en-GB" sz="3600" dirty="0">
                <a:solidFill>
                  <a:srgbClr val="FF0000"/>
                </a:solidFill>
                <a:cs typeface="Arial"/>
              </a:rPr>
            </a:br>
            <a:endParaRPr lang="en-GB" sz="3600">
              <a:solidFill>
                <a:srgbClr val="FF0000"/>
              </a:solidFill>
              <a:cs typeface="Arial"/>
            </a:endParaRPr>
          </a:p>
          <a:p>
            <a:endParaRPr lang="en-US">
              <a:solidFill>
                <a:srgbClr val="FF0000"/>
              </a:solidFill>
              <a:cs typeface="Arial"/>
            </a:endParaRPr>
          </a:p>
        </p:txBody>
      </p:sp>
    </p:spTree>
    <p:extLst>
      <p:ext uri="{BB962C8B-B14F-4D97-AF65-F5344CB8AC3E}">
        <p14:creationId xmlns:p14="http://schemas.microsoft.com/office/powerpoint/2010/main" val="71309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1040880" y="1222007"/>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DS403</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US" sz="2400" b="0" dirty="0">
                <a:latin typeface="Calibri" panose="020F0502020204030204" pitchFamily="34" charset="0"/>
                <a:ea typeface="Calibri" panose="020F0502020204030204" pitchFamily="34" charset="0"/>
                <a:cs typeface="Calibri" panose="020F0502020204030204" pitchFamily="34" charset="0"/>
              </a:rPr>
              <a:t>it provides the historical data necessary to statistically test whether winning the coin toss confers a real, measurable advantage in the outcome of professional cricket matches.</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latin typeface="Calibri"/>
                <a:cs typeface="Calibri"/>
              </a:rPr>
              <a:t>the variable that remains constant /could cause an effect  on dep var)</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(select one): </a:t>
            </a:r>
            <a:r>
              <a:rPr lang="en-US" sz="2400" b="0" dirty="0">
                <a:solidFill>
                  <a:srgbClr val="FF0000"/>
                </a:solidFill>
                <a:latin typeface="Calibri"/>
                <a:cs typeface="Calibri"/>
              </a:rPr>
              <a:t>Nominal/categorial  OR Ordinal OR Interval/measurement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(your outcome variable that answers your RQ)</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(select one): </a:t>
            </a:r>
            <a:r>
              <a:rPr lang="en-US" sz="2400" b="0" dirty="0">
                <a:solidFill>
                  <a:srgbClr val="FF0000"/>
                </a:solidFill>
                <a:latin typeface="Calibri"/>
                <a:cs typeface="Calibri"/>
              </a:rPr>
              <a:t>Nominal/categorial  OR Ordinal OR Interval/measurement data</a:t>
            </a: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1245042"/>
          </a:xfrm>
        </p:spPr>
        <p:txBody>
          <a:bodyPr/>
          <a:lstStyle/>
          <a:p>
            <a:pPr>
              <a:spcAft>
                <a:spcPts val="0"/>
              </a:spcAft>
            </a:pPr>
            <a:endParaRPr lang="en-GB" dirty="0"/>
          </a:p>
          <a:p>
            <a:pPr>
              <a:spcAft>
                <a:spcPts val="0"/>
              </a:spcAft>
            </a:pPr>
            <a:r>
              <a:rPr lang="en-GB" dirty="0"/>
              <a:t>Our Research Question is </a:t>
            </a:r>
            <a:r>
              <a:rPr lang="en-GB" sz="2400" dirty="0">
                <a:solidFill>
                  <a:srgbClr val="FF0000"/>
                </a:solidFill>
              </a:rPr>
              <a:t>“establishing a difference in proportion between two groups.”</a:t>
            </a: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br>
              <a:rPr lang="en-GB" sz="2400" b="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dirty="0">
                <a:solidFill>
                  <a:srgbClr val="000000"/>
                </a:solidFill>
                <a:effectLst/>
                <a:latin typeface="Calibri"/>
                <a:ea typeface="Calibri" panose="020F0502020204030204" pitchFamily="34" charset="0"/>
                <a:cs typeface="Times New Roman"/>
              </a:rPr>
              <a:t>Template </a:t>
            </a:r>
            <a:r>
              <a:rPr lang="en-IE" sz="2400" baseline="30000" dirty="0">
                <a:solidFill>
                  <a:srgbClr val="000000"/>
                </a:solidFill>
                <a:effectLst/>
                <a:latin typeface="Calibri"/>
                <a:ea typeface="Calibri" panose="020F0502020204030204" pitchFamily="34" charset="0"/>
                <a:cs typeface="Times New Roman"/>
              </a:rPr>
              <a:t>3</a:t>
            </a:r>
            <a:r>
              <a:rPr lang="en-IE" sz="2400" dirty="0">
                <a:solidFill>
                  <a:srgbClr val="000000"/>
                </a:solidFill>
                <a:effectLst/>
                <a:latin typeface="Calibri"/>
                <a:ea typeface="Calibri" panose="020F0502020204030204" pitchFamily="34" charset="0"/>
                <a:cs typeface="Times New Roman"/>
              </a:rPr>
              <a:t>:  </a:t>
            </a:r>
            <a:r>
              <a:rPr lang="en-IE" sz="2400" b="0" dirty="0">
                <a:solidFill>
                  <a:srgbClr val="000000"/>
                </a:solidFill>
                <a:latin typeface="Calibri"/>
                <a:ea typeface="Calibri" panose="020F0502020204030204" pitchFamily="34" charset="0"/>
                <a:cs typeface="Times New Roman"/>
              </a:rPr>
              <a:t>Toss_Winner </a:t>
            </a:r>
            <a:r>
              <a:rPr lang="en-IE" sz="2400" b="0" dirty="0">
                <a:solidFill>
                  <a:srgbClr val="000000"/>
                </a:solidFill>
                <a:effectLst/>
                <a:latin typeface="Calibri"/>
                <a:ea typeface="Calibri" panose="020F0502020204030204" pitchFamily="34" charset="0"/>
                <a:cs typeface="Times New Roman"/>
              </a:rPr>
              <a:t>vs Match_Winner (frequencies): “</a:t>
            </a:r>
            <a:r>
              <a:rPr lang="en-IE" sz="2400" b="0" dirty="0">
                <a:effectLst/>
                <a:latin typeface="Calibri"/>
                <a:ea typeface="Calibri" panose="020F0502020204030204" pitchFamily="34" charset="0"/>
                <a:cs typeface="Times New Roman"/>
              </a:rPr>
              <a:t>Is there a difference in proportions of </a:t>
            </a:r>
            <a:r>
              <a:rPr lang="en-IE" sz="2400" b="0" dirty="0">
                <a:solidFill>
                  <a:srgbClr val="0070C0"/>
                </a:solidFill>
                <a:latin typeface="Calibri"/>
                <a:ea typeface="Calibri" panose="020F0502020204030204" pitchFamily="34" charset="0"/>
                <a:cs typeface="Times New Roman"/>
              </a:rPr>
              <a:t> match winners </a:t>
            </a:r>
            <a:r>
              <a:rPr lang="en-IE" sz="2400" b="0" dirty="0">
                <a:solidFill>
                  <a:srgbClr val="0070C0"/>
                </a:solidFill>
                <a:effectLst/>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between </a:t>
            </a:r>
            <a:r>
              <a:rPr lang="en-IE" sz="2400" b="0" dirty="0">
                <a:solidFill>
                  <a:srgbClr val="0070C0"/>
                </a:solidFill>
                <a:latin typeface="Calibri"/>
                <a:ea typeface="Calibri" panose="020F0502020204030204" pitchFamily="34" charset="0"/>
                <a:cs typeface="Times New Roman"/>
              </a:rPr>
              <a:t>teams that won the toss and teams that lost the toss?’ </a:t>
            </a: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612659" y="939694"/>
            <a:ext cx="10406581" cy="1757785"/>
          </a:xfrm>
        </p:spPr>
        <p:txBody>
          <a:bodyPr vert="horz" lIns="0" tIns="0" rIns="0" bIns="0" rtlCol="0" anchor="t">
            <a:noAutofit/>
          </a:bodyPr>
          <a:lstStyle/>
          <a:p>
            <a:pPr>
              <a:lnSpc>
                <a:spcPct val="100000"/>
              </a:lnSpc>
            </a:pPr>
            <a:r>
              <a:rPr lang="en-GB" sz="2400" b="0" dirty="0">
                <a:latin typeface="Calibri"/>
                <a:cs typeface="Calibri"/>
              </a:rPr>
              <a:t> </a:t>
            </a:r>
            <a:r>
              <a:rPr lang="en-GB" sz="2000" b="0" dirty="0">
                <a:latin typeface="Arial"/>
                <a:cs typeface="Arial"/>
              </a:rPr>
              <a:t>Null hypothesis (H</a:t>
            </a:r>
            <a:r>
              <a:rPr lang="en-GB" sz="2000" b="0" baseline="-25000" dirty="0">
                <a:latin typeface="Arial"/>
                <a:cs typeface="Arial"/>
              </a:rPr>
              <a:t>0</a:t>
            </a:r>
            <a:r>
              <a:rPr lang="en-GB" sz="2000" b="0" dirty="0">
                <a:latin typeface="Arial"/>
                <a:cs typeface="Arial"/>
              </a:rPr>
              <a:t>): There is </a:t>
            </a:r>
            <a:r>
              <a:rPr lang="en-GB" sz="2000" dirty="0">
                <a:latin typeface="Arial"/>
                <a:cs typeface="Arial"/>
              </a:rPr>
              <a:t>no </a:t>
            </a:r>
            <a:r>
              <a:rPr lang="en-GB" sz="2000" b="0" dirty="0">
                <a:latin typeface="Arial"/>
                <a:cs typeface="Arial"/>
              </a:rPr>
              <a:t>effect on the  Match  </a:t>
            </a:r>
            <a:endParaRPr lang="en-GB" sz="2000" b="0" dirty="0">
              <a:solidFill>
                <a:schemeClr val="tx1"/>
              </a:solidFill>
              <a:latin typeface="Arial"/>
              <a:cs typeface="Arial"/>
            </a:endParaRPr>
          </a:p>
          <a:p>
            <a:pPr>
              <a:lnSpc>
                <a:spcPct val="100000"/>
              </a:lnSpc>
            </a:pPr>
            <a:r>
              <a:rPr lang="en-GB" sz="2000" b="0" dirty="0">
                <a:solidFill>
                  <a:srgbClr val="FF0000"/>
                </a:solidFill>
                <a:latin typeface="Arial"/>
                <a:cs typeface="Arial"/>
              </a:rPr>
              <a:t>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There is </a:t>
            </a:r>
            <a:r>
              <a:rPr lang="en-GB" sz="2000" dirty="0">
                <a:solidFill>
                  <a:srgbClr val="FF0000"/>
                </a:solidFill>
                <a:latin typeface="Arial"/>
                <a:cs typeface="Arial"/>
              </a:rPr>
              <a:t>no</a:t>
            </a:r>
            <a:r>
              <a:rPr lang="en-GB" sz="2000" b="0" dirty="0">
                <a:solidFill>
                  <a:srgbClr val="FF0000"/>
                </a:solidFill>
                <a:latin typeface="Arial"/>
                <a:cs typeface="Arial"/>
              </a:rPr>
              <a:t> difference in the proportions of matches won between teams that won the toss and teams that lost the toss.(There is a probability of winning  is equal)   </a:t>
            </a:r>
          </a:p>
          <a:p>
            <a:pPr>
              <a:lnSpc>
                <a:spcPct val="100000"/>
              </a:lnSpc>
            </a:pPr>
            <a:endParaRPr lang="en-GB" sz="2000" b="0" dirty="0">
              <a:latin typeface="Arial"/>
              <a:cs typeface="Arial"/>
            </a:endParaRPr>
          </a:p>
          <a:p>
            <a:pPr>
              <a:lnSpc>
                <a:spcPct val="100000"/>
              </a:lnSpc>
            </a:pPr>
            <a:endParaRPr lang="en-GB" sz="2000" b="0" dirty="0">
              <a:latin typeface="Arial"/>
              <a:cs typeface="Arial"/>
            </a:endParaRPr>
          </a:p>
          <a:p>
            <a:pPr>
              <a:lnSpc>
                <a:spcPct val="100000"/>
              </a:lnSpc>
            </a:pPr>
            <a:r>
              <a:rPr lang="en-GB" sz="2000" b="0" dirty="0">
                <a:latin typeface="Arial"/>
                <a:cs typeface="Arial"/>
              </a:rPr>
              <a:t>.2 Alternative hypothesis (H</a:t>
            </a:r>
            <a:r>
              <a:rPr lang="en-GB" sz="2000" b="0" baseline="-25000" dirty="0">
                <a:latin typeface="Arial"/>
                <a:cs typeface="Arial"/>
              </a:rPr>
              <a:t>1</a:t>
            </a:r>
            <a:r>
              <a:rPr lang="en-GB" sz="2000" b="0" dirty="0">
                <a:latin typeface="Arial"/>
                <a:cs typeface="Arial"/>
              </a:rPr>
              <a:t>):  There appears to be an effect on the Match</a:t>
            </a:r>
          </a:p>
          <a:p>
            <a:pPr>
              <a:lnSpc>
                <a:spcPct val="100000"/>
              </a:lnSpc>
            </a:pPr>
            <a:r>
              <a:rPr lang="en-GB" sz="2000" b="0" dirty="0">
                <a:solidFill>
                  <a:srgbClr val="FF0000"/>
                </a:solidFill>
                <a:latin typeface="Arial"/>
                <a:cs typeface="Arial"/>
              </a:rPr>
              <a:t>Alt hypothesis (H</a:t>
            </a:r>
            <a:r>
              <a:rPr lang="en-GB" sz="2000" b="0" baseline="-25000" dirty="0">
                <a:solidFill>
                  <a:srgbClr val="FF0000"/>
                </a:solidFill>
                <a:latin typeface="Arial"/>
                <a:cs typeface="Arial"/>
              </a:rPr>
              <a:t>1</a:t>
            </a:r>
            <a:r>
              <a:rPr lang="en-GB" sz="2000" b="0" dirty="0">
                <a:solidFill>
                  <a:srgbClr val="FF0000"/>
                </a:solidFill>
                <a:latin typeface="Arial"/>
                <a:cs typeface="Arial"/>
              </a:rPr>
              <a:t>): There is </a:t>
            </a:r>
            <a:r>
              <a:rPr lang="en-GB" sz="2000" dirty="0">
                <a:solidFill>
                  <a:srgbClr val="FF0000"/>
                </a:solidFill>
                <a:latin typeface="Arial"/>
                <a:cs typeface="Arial"/>
              </a:rPr>
              <a:t>a</a:t>
            </a:r>
            <a:r>
              <a:rPr lang="en-GB" sz="2000" b="0" dirty="0">
                <a:solidFill>
                  <a:srgbClr val="FF0000"/>
                </a:solidFill>
                <a:latin typeface="Arial"/>
                <a:cs typeface="Arial"/>
              </a:rPr>
              <a:t> difference in the proportions of matches won between teams that won the toss and team that lost the toss.(The toss outcome affects the probability of winning the match)</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993</Words>
  <Application>Microsoft Office PowerPoint</Application>
  <PresentationFormat>Widescreen</PresentationFormat>
  <Paragraphs>44</Paragraphs>
  <Slides>6</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Tutorial Presentation for Feedback Date:  </vt:lpstr>
      <vt:lpstr>Include summary information of your dataset, to include  The columns/variable names you include in your research question  (two columns). At least 5 rows of the data Tell us how many rows your dataset has.  </vt:lpstr>
      <vt:lpstr>This dataset is interesting to us because it provides the historical data necessary to statistically test whether winning the coin toss confers a real, measurable advantage in the outcome of professional cricket matches.  From the column headings in your dataset choose ONE independent * and ONE dependent variable .  Our  Independent variable is: (the variable that remains constant /could cause an effect  on dep var)                    This  Independent variable datatype is (select one): Nominal/categorial  OR Ordinal OR Interval/measurement data. Our Dependent variable is: (your outcome variable that answers your RQ)                    This Dependent variable datatype is  (select one): Nominal/categorial  OR Ordinal OR Interval/measurement data</vt:lpstr>
      <vt:lpstr>  Template 3:  Toss_Winner vs Match_Winner (frequencies): “Is there a difference in proportions of  match winners  between teams that won the toss and teams that lost the toss?’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Muskan Syed</cp:lastModifiedBy>
  <cp:revision>117</cp:revision>
  <dcterms:created xsi:type="dcterms:W3CDTF">2019-10-01T08:37:56Z</dcterms:created>
  <dcterms:modified xsi:type="dcterms:W3CDTF">2025-12-06T23:14:49Z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